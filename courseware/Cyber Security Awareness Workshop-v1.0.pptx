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5" r:id="rId146"/>
    <p:sldId id="396" r:id="rId147"/>
    <p:sldId id="397" r:id="rId148"/>
    <p:sldId id="398" r:id="rId149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cases</c:v>
                </c:pt>
              </c:strCache>
            </c:strRef>
          </c:tx>
          <c:spPr>
            <a:solidFill>
              <a:srgbClr val="176B87"/>
            </a:solidFill>
            <a:ln>
              <a:solidFill>
                <a:srgbClr val="176B87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368</c:v>
                </c:pt>
                <c:pt idx="1">
                  <c:v>377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6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Losses (S$ million)</c:v>
                </c:pt>
              </c:strCache>
            </c:strRef>
          </c:tx>
          <c:spPr>
            <a:solidFill>
              <a:srgbClr val="176B87"/>
            </a:solidFill>
            <a:ln>
              <a:solidFill>
                <a:srgbClr val="176B87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88.5</c:v>
                </c:pt>
                <c:pt idx="1">
                  <c:v>35.3</c:v>
                </c:pt>
              </c:numCache>
            </c:numRef>
          </c:val>
        </c:ser>
        <c:dLbls>
          <c:numFmt formatCode="S$0.0&quot;m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6EC"/>
              </a:solidFill>
            </a:ln>
          </c:spPr>
        </c:majorGridlines>
        <c:numFmt formatCode="S$0.0&quot;m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76B87"/>
            </a:solidFill>
            <a:ln>
              <a:solidFill>
                <a:srgbClr val="176B87"/>
              </a:solidFill>
            </a:ln>
          </c:spPr>
          <c:cat>
            <c:strRef>
              <c:f>Sheet1!$A$2:$A$6</c:f>
              <c:strCache>
                <c:ptCount val="5"/>
                <c:pt idx="0">
                  <c:v>Endpoint / privilege</c:v>
                </c:pt>
                <c:pt idx="1">
                  <c:v>Other</c:v>
                </c:pt>
                <c:pt idx="2">
                  <c:v>Software vulnerability</c:v>
                </c:pt>
                <c:pt idx="3">
                  <c:v>Supply chain</c:v>
                </c:pt>
                <c:pt idx="4">
                  <c:v>Identity / social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6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Likelihood</c:v>
                </c:pt>
              </c:strCache>
            </c:strRef>
          </c:tx>
          <c:spPr>
            <a:solidFill>
              <a:srgbClr val="176B87"/>
            </a:solidFill>
            <a:ln>
              <a:solidFill>
                <a:srgbClr val="176B87"/>
              </a:solidFill>
            </a:ln>
          </c:spPr>
          <c:cat>
            <c:strRef>
              <c:f>Sheet1!$A$2:$A$6</c:f>
              <c:strCache>
                <c:ptCount val="5"/>
                <c:pt idx="0">
                  <c:v>Legacy VPN</c:v>
                </c:pt>
                <c:pt idx="1">
                  <c:v>Public portal</c:v>
                </c:pt>
                <c:pt idx="2">
                  <c:v>Finance laptop</c:v>
                </c:pt>
                <c:pt idx="3">
                  <c:v>Guest Wi-Fi</c:v>
                </c:pt>
                <c:pt idx="4">
                  <c:v>Backup console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21A0A0"/>
            </a:solidFill>
            <a:ln>
              <a:solidFill>
                <a:srgbClr val="21A0A0"/>
              </a:solidFill>
            </a:ln>
          </c:spPr>
          <c:cat>
            <c:strRef>
              <c:f>Sheet1!$A$2:$A$6</c:f>
              <c:strCache>
                <c:ptCount val="5"/>
                <c:pt idx="0">
                  <c:v>Legacy VPN</c:v>
                </c:pt>
                <c:pt idx="1">
                  <c:v>Public portal</c:v>
                </c:pt>
                <c:pt idx="2">
                  <c:v>Finance laptop</c:v>
                </c:pt>
                <c:pt idx="3">
                  <c:v>Guest Wi-Fi</c:v>
                </c:pt>
                <c:pt idx="4">
                  <c:v>Backup console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6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bm.com/think/topics/cybersecurit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csc.gov.uk/collection/vulnerability-management/understanding-vulnerabilitie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rowdstrike.com/en-us/cybersecurity-101/malware/types-of-malware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rowdstrike.com/en-us/cybersecurity-101/malware/types-of-malware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rowdstrike.com/en-us/cybersecurity-101/malware/types-of-malware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crowdstrike.com/en-us/cybersecurity-101/malware/types-of-malware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police.gov.sg/-/media/SPF/Media-Room/Statistics/Annual-Scams-and-Cybercrime-Brief-2025/Annual-Scam-and-Cybercrime-Brief-2025.pdf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sco.com/site/us/en/learn/topics/security/what-is-cybersecurity.html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h.gov.sg/newsroom/singhealth%27s-it-system-target-of-cyberattack/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www.moh.gov.sg/newsroom/singhealth%27s-it-system-target-of-cyberattack/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ao.org.uk/reports/investigation-wannacry-cyber-attack-and-the-nhs/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nao.org.uk/reports/investigation-wannacry-cyber-attack-and-the-nhs/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versight.house.gov/report/the-equifax-data-breach/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oversight.house.gov/report/the-equifax-data-breach/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sa.gov/news-events/alerts/2020/12/13/active-exploitation-solarwinds-software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cisa.gov/news-events/alerts/2020/12/13/active-exploitation-solarwinds-software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sa.gov/sites/default/files/2023-12/IAM_EDUCATIONAL_AID_TALKING_POINTS_508C.pdf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cisa.gov/sites/default/files/2023-12/IAM_EDUCATIONAL_AID_TALKING_POINTS_508C.pdf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sa.gov/news-events/cybersecurity-advisories/aa21-356a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cisa.gov/news-events/cybersecurity-advisories/aa21-356a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sa.gov/sites/default/files/2023-06/aa23-158a-stopransomware-cl0p-ransomware-gang-exploits-moveit-vulnerability_7.pdf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www.cisa.gov/sites/default/files/2023-06/aa23-158a-stopransomware-cl0p-ransomware-gang-exploits-moveit-vulnerability_7.pdf" TargetMode="Externa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c.gov/Archives/edgar/data/789570/000119312523251667/d461062d8k.htm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sec.gov/Archives/edgar/data/789570/000119312523251667/d461062d8k.htm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olice.gov.sg/media-hub/news/2026/05/20260505_international_cooperation_leads_to_the_recovery_of_over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www.police.gov.sg/media-hub/news/2026/05/20260505_international_cooperation_leads_to_the_recovery_of_over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mmerce.senate.gov/press/dem/release/rockefeller-staff-report-details-targets-missed-opportunities-to-stop-massive-data-breach-2014-3/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commerce.senate.gov/press/dem/release/rockefeller-staff-report-details-targets-missed-opportunities-to-stop-massive-data-breach-2014-3/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ssets.publishing.service.gov.uk/government/uploads/system/uploads/attachment_data/file/546160/cyber-security-for-ports-and-port-systems-code-of-practice.pdf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assets.publishing.service.gov.uk/government/uploads/system/uploads/attachment_data/file/546160/cyber-security-for-ports-and-port-systems-code-of-practice.pdf" TargetMode="Externa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co.org.uk/media/action-weve-taken/mpns/2618524/marriott-international-inc-mpn-20201030.pdf" TargetMode="Externa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ico.org.uk/media/action-weve-taken/mpns/2618524/marriott-international-inc-mpn-20201030.pdf" TargetMode="Externa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ustice.gov/usao-wdwa/pr/seattle-tech-worker-arrested-data-theft-involving-large-financial-services-company" TargetMode="Externa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www.justice.gov/usao-wdwa/pr/seattle-tech-worker-arrested-data-theft-involving-large-financial-services-company" TargetMode="Externa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csc.gov.uk/blog-post/what-is-ot-malware" TargetMode="Externa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ncsc.gov.uk/blog-post/what-is-ot-malware" TargetMode="Externa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c.gov/Archives/edgar/data/731766/000073176624000045/unh-20240221.htm" TargetMode="Externa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www.sec.gov/Archives/edgar/data/731766/000073176624000045/unh-20240221.htm" TargetMode="Externa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cybersecuritysimulator/" TargetMode="Externa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regexgenerator/" TargetMode="Externa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cybersecuritysimulator/" TargetMode="Externa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icrosoft.com/en-us/security/business/security-101/what-is-cybersecurity" TargetMode="Externa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cryptography-toolkit/" TargetMode="Externa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csc.gov.uk/collection/vulnerability-management/understanding-vulnerabilities" TargetMode="Externa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ncsc.gov.uk/collection/vulnerability-management/understanding-vulnerabilities" TargetMode="Externa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csc.gov.uk/collection/vulnerability-management/understanding-vulnerabilities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csc.gov.uk/collection/vulnerability-management/understanding-vulnerabilities" TargetMode="Externa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wasp.org/www-community/attacks/SQL_Injection" TargetMode="Externa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ethnicalhacking/" TargetMode="Externa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entest-fauxbank.vercel.app/" TargetMode="Externa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ipcalculator/" TargetMode="Externa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pcapanalyzer/" TargetMode="Externa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regexgenerator/" TargetMode="Externa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cybersecuritysimulator/" TargetMode="Externa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7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684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25603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NON-WSQ COURSE • 1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534924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0243E"/>
                </a:solidFill>
                <a:latin typeface="Aptos Display"/>
              </a:rPr>
              <a:t>CYBER SECURITY
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80360"/>
            <a:ext cx="5074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76B87"/>
                </a:solidFill>
                <a:latin typeface="Aptos Display"/>
              </a:rPr>
              <a:t>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566160"/>
            <a:ext cx="47091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F6B7A"/>
                </a:solidFill>
                <a:latin typeface="Aptos"/>
              </a:rPr>
              <a:t>Recognise threats. Reduce exposure. Escalate with confidence.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4754880"/>
            <a:ext cx="3474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Aptos"/>
              </a:rPr>
              <a:t>C506</a:t>
            </a:r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623560"/>
            <a:ext cx="658368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1328" y="5687568"/>
            <a:ext cx="37947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243E"/>
                </a:solidFill>
                <a:latin typeface="Aptos"/>
              </a:rPr>
              <a:t>Tertiary Infotech Academy Pte Ltd
UEN 201200696W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Welcome to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Recognise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Spot threat patterns, vulnerable conditions and signs that deserve 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Apply layered safeguards that protect people, devices, data and business processes.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Communicate evidence, impact and urgency to the right person without making the incident worse.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1 DAY • 7.5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The day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Threats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Language, attack chains and warning signs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Assets, vulnerabilities and business risk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Safeguards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Identity, devices, data, network and people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Evidence, containment and escalation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Key takeaways and a 30-day action 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Concepts on slides • detailed procedures in the Learner Guide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AUTHORISATION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A safe learning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B87"/>
                </a:solidFill>
                <a:latin typeface="Aptos Display"/>
              </a:rPr>
              <a:t>DO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606040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Use only supplied mock data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Stay inside named training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032504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Preserve evidence and privacy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45736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Stop when scope is uncertain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1A0A0"/>
                </a:solidFill>
                <a:latin typeface="Aptos Display"/>
              </a:rPr>
              <a:t>DO NOT</a:t>
            </a:r>
          </a:p>
        </p:txBody>
      </p:sp>
      <p:sp>
        <p:nvSpPr>
          <p:cNvPr id="17" name="Oval 16"/>
          <p:cNvSpPr/>
          <p:nvPr/>
        </p:nvSpPr>
        <p:spPr>
          <a:xfrm>
            <a:off x="6519672" y="2606040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Test real organisations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3319272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Enter real passwords or personal data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4032504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Attempt denial of service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745736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Publish exploitable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THE CIA TRIAD — PLUS BUSINESS CONSEQUENCES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Cybersecurity is a business capability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Only authorised people and systems access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Information and processes remain accurate, complete and trustworthy.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Services and data are accessible when the business needs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Safety &amp;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Digital failures can affect people, operations, money and reputation.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7" name="TextBox 2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https://www.ibm.com/think/topics/cybersecurity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CORE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How a cyber incident unfolds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Asset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Something valuable: identity, device, data, service or money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 person, event or mechanism capable of harm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 weakness or unsafe condition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Exploit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 technique that takes advantage of the weakness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Loss to confidentiality, integrity, availability or trust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Risk grows when valuable assets, credible threats and exploitable weaknesses meet.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2" name="TextBox 41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RISK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Risk is a decision, not just a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Likelihood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How plausible is exploitation in this context? Consider reachability, capability and active exploitation.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What happens to people, operations, finance, compliance and reputation?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 strength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Does a safeguard prevent, detect, contain or recover — and has it been verified?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EDITABLE DATA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Business email compromise cases edged upward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837943"/>
            <a:ext cx="2971800" cy="33375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783080"/>
            <a:ext cx="82296" cy="33375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993392"/>
            <a:ext cx="25146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496312"/>
            <a:ext cx="2496312" cy="2441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Aptos"/>
              </a:rPr>
              <a:t>Singapore Police recorded 377 BEC cases in 2025, up from 368 in 2024. Small changes in volume still represent repeated opportunities for high-impact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94960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Chart is native and editable in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14" name="TextBox 1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EDITABLE DATA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BEC losses fell — but remained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837943"/>
            <a:ext cx="2971800" cy="33375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783080"/>
            <a:ext cx="82296" cy="33375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993392"/>
            <a:ext cx="25146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496312"/>
            <a:ext cx="2496312" cy="2441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Aptos"/>
              </a:rPr>
              <a:t>Reported losses fell, yet S$35.3 million remained at stake. Independent verification and rapid escalation change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94960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Chart is native and editable in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14" name="TextBox 1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ONE DIGITAL LIFE • MANY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Personal and business risk are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Personal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reused password unlocks email; email resets other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Work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personal device or inbox becomes a path into business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believable message changes payment, access or recovery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Shared consequence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Money, data, services and trust are affected across both worlds.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8288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828800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1A0A0"/>
                </a:solidFill>
                <a:latin typeface="Aptos"/>
              </a:rPr>
              <a:t>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325880"/>
            <a:ext cx="6995160" cy="1554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0243E"/>
                </a:solidFill>
                <a:latin typeface="Aptos Display"/>
              </a:rPr>
              <a:t>Identify cyber risks and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154680"/>
            <a:ext cx="6309360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F6B7A"/>
                </a:solidFill>
                <a:latin typeface="Aptos"/>
              </a:rPr>
              <a:t>Read behaviours, attack paths and warning signs before deciding what to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SEE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WHO • WHY •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Threat actors pursue different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Cybercriminal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Money through theft, extortion, fraud or resale.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Insider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Malicious, coerced or accidental misuse of legitimate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Hacktivist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Disruption or disclosure to advance a cause.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Nation-state / APT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Strategic intelligence, influence or critical-infrastructure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Opportunist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Scans widely for exposed or unpatched systems.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Supplier compromise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Abuses trusted software, services or relationships.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THINK IN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Attack chain: from initial access to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Initial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Phishing, exposed service, stolen credentials or supplier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Malicious code, command or abused legitimate tool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Account, scheduled task, service or modified application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Privilege escalation, discovery and lateral movement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Theft, fraud, encryption, disruption or manipulation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Break one link early and the whole outcome can change.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TYPES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Malware families: behaviour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138988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Virus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Attaches to a host file and executes when the file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13898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Self-propagates across reachable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138988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Trojan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Disguises malicious capability as legitimate 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138988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Ransomware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Encrypts or disrupts systems and demands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273552"/>
            <a:ext cx="82296" cy="13898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Spyware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Collects activity, credentials or data covertly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8718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2998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2998" y="3273552"/>
            <a:ext cx="82296" cy="138988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9030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Rootkit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9030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Hides privileged malicious activity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7356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1636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1636" y="3273552"/>
            <a:ext cx="82296" cy="138988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668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Places a device under remote command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5994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0274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0274" y="3273552"/>
            <a:ext cx="82296" cy="13898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6306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Logic bomb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6306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Triggers a malicious action when a condition is met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4360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4919472"/>
            <a:ext cx="82296" cy="138988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Adware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Displays intrusive advertising and may track browsing or alter settings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58718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12998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12998" y="4919472"/>
            <a:ext cx="82296" cy="138988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69030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Keylogger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69030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Records keystrokes to capture credentials and sensitive input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77356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31636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31636" y="4919472"/>
            <a:ext cx="82296" cy="13898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87668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Fileless malware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7668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Abuses memory and legitimate administration tools instead of relying on a normal file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5994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050274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50274" y="4919472"/>
            <a:ext cx="82296" cy="138988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06306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Cryptojacker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06306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5F6B7A"/>
                </a:solidFill>
                <a:latin typeface="Aptos"/>
              </a:rPr>
              <a:t>Hijacks computing resources to mine cryptocurrency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67" name="TextBox 6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OBSERVABLE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Malware warning 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138988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Virus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Unexpected file changes; antivirus detections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13898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Rapid scanning and repeated connections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138988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Trojan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Untrusted installer, new process or persistence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138988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Ransomware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File extensions change, ransom note, unavailable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273552"/>
            <a:ext cx="82296" cy="13898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Spyware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Browser changes, unusual outbound traffic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8718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2998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2998" y="3273552"/>
            <a:ext cx="82296" cy="138988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9030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Rootkit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9030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Integrity anomalies, unexplained privileged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7356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1636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1636" y="3273552"/>
            <a:ext cx="82296" cy="138988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668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Beaconing, DDoS or spam activity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5994" y="332841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0274" y="327355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0274" y="3273552"/>
            <a:ext cx="82296" cy="13898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6306" y="348386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Logic bomb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6306" y="398678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Scheduled or conditional destructive code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4360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4919472"/>
            <a:ext cx="82296" cy="138988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Adware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Persistent pop-ups, redirects and unwanted extensions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58718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12998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12998" y="4919472"/>
            <a:ext cx="82296" cy="138988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69030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Keylogger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69030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Unexplained input hooks, suspicious processes or credential theft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77356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31636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31636" y="4919472"/>
            <a:ext cx="82296" cy="13898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87668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Fileless malware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7668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Unexpected PowerShell, script hosts, encoded commands or memory activity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5994" y="4974336"/>
            <a:ext cx="2562606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050274" y="4919472"/>
            <a:ext cx="2562606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50274" y="4919472"/>
            <a:ext cx="82296" cy="138988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06306" y="512978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Cryptojacker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06306" y="5632704"/>
            <a:ext cx="2087118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5F6B7A"/>
                </a:solidFill>
                <a:latin typeface="Aptos"/>
              </a:rPr>
              <a:t>High CPU or cloud cost, overheating and unknown mining connections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67" name="TextBox 6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DISTINCTIONS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Virus, worm and trojan are not interchangeable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B87"/>
                </a:solidFill>
                <a:latin typeface="Aptos Display"/>
              </a:rPr>
              <a:t>PROPAGATION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606040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Virus needs a host and user execution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Worm self-propagates across reachable systems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032504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Trojan relies on disguise and user trust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45736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All may deliver additional payloads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1A0A0"/>
                </a:solidFill>
                <a:latin typeface="Aptos Display"/>
              </a:rPr>
              <a:t>DEFENSIVE LENS</a:t>
            </a:r>
          </a:p>
        </p:txBody>
      </p:sp>
      <p:sp>
        <p:nvSpPr>
          <p:cNvPr id="17" name="Oval 16"/>
          <p:cNvSpPr/>
          <p:nvPr/>
        </p:nvSpPr>
        <p:spPr>
          <a:xfrm>
            <a:off x="6519672" y="2606040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Control execution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3319272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Patch and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4032504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Use trusted software sources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745736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Monitor behaviour, not only filenames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7" name="TextBox 2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Virus: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malware-response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Attaches to a host file and executes when the file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Unexpected file changes; antivirus detections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Corrupts files and uses human execution to continue spreading. Block execution, isolate, restore clean copies.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Worm: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Self-propagates across reachable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Rapid scanning and repeated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Consumes network capacity and compromises many reachable systems quickly. Segment, patch, isolate affected segments.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03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Trojan: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ackup-recovery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Disguises malicious capability as legitimate software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Untrusted installer, new process or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Creates trusted-looking access for theft, persistence or a second payload. Application control, trusted sources, EDR.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04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Ransomware: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malware-response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Encrypts or disrupts systems and demands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File extensions change, ransom note, unavailable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Stops operations, threatens disclosure and forces time-critical recovery decisions. Isolate, preserve evidence, activate response and recovery.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05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Spyware: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Collects activity, credentials or data covertly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Browser changes, unusual outbound traffic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Steals activity, credentials and sensitive information while remaining quiet. Remove persistence, reset credentials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06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Rootkit: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ackup-recovery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Hides privileged malicious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Integrity anomalies, unexplained privileged changes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Undermines trust in the operating system and can hide privileged activity. Offline investigation, rebuild trusted baseline.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07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Bot: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malware-response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Places a device under remote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Beaconing, DDoS or spam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Turns the device into remotely controlled infrastructure for spam, fraud or DDoS. Block command-and-control, isolate, remediate.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08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Logic bomb: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Triggers a malicious action when a condition is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Scheduled or conditional destructive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Creates delayed or conditional sabotage that may resemble an ordinary failure. Code review, least privilege, change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09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Adware: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ackup-recovery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Displays intrusive advertising and may track browsing or alter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Persistent pop-ups, redirects and unwanted extensions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Degrades user trust and may introduce tracking, redirects or further unwanted software. Remove unwanted software, review permissions, use trusted 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10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Keylogger: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malware-response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Records keystrokes to capture credentials and sensitive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Unexplained input hooks, suspicious processes or credential theft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Captures secrets at entry, potentially bypassing strong password complexity. Endpoint protection, MFA, safe rebuild and credential reset.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11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Fileless malware: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Abuses memory and legitimate administration tools instead of relying on a normal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Unexpected PowerShell, script hosts, encoded commands or memory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Blends into legitimate administration activity and reduces reliance on obvious files. Restrict scripting, monitor behaviour, least privilege, EDR.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MALWARE TYPE 12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Cryptojacker: behaviour, evidence and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ackup-recovery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CORE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Hijacks computing resources to mine cryptocurrency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WATCH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High CPU or cloud cost, overheating and unknown mining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BUSINESS EFFECT + FIRST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Consumes compute capacity and cloud budget while masking the attack as poor performance. Patch entry points, control scripts, monitor resource use and cloud spend.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Classify from multiple signals; isolate safely and preserve evidence before making destructive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https://www.crowdstrike.com/en-us/cybersecurity-101/malware/types-of-malware/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PREVENT • DETECT • RECOVER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Ransomware is an operational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Asset inventory, supported systems, least privilege, segmented access and tested offline backups.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Mass file changes, disabled security tools, unusual admin activity, lateral movement and ransom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Respond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Isolate safely, preserve evidence, activate the incident team, assess scope and recover from trusted sources.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PAUSE WHEN EMOTION 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Social engineering targets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‘The CEO has approved this.’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‘Pay in the next ten minutes.’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Fear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‘Your account will be closed.’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Scarcity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‘Only three places remain.’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Familiarity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‘I am your supplier / colleague.’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Secrecy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‘Do not tell anyone yet.’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01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Phishing: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‘Your parcel is waiting. Pay S$1.20 at parcel-status.example.test within 30 minutes.’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Generic urgency, mismatched link, unexpected attachment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Use a known route to the service; report the 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Broad deceptive email seeks clicks, credentials, payments or malware execution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02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Spear phishing: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‘Hi Mei, I saw your Project Atlas post. Open the attached revised budget before today's client call.’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Accurate context paired with an unusual request or channel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Verify the request with the known person using another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tailored message uses role, project or relationship details to appear credible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03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Whaling: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‘The chairman needs the confidential acquisition file now. Send it to this private address and do not copy anyone.’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Legal, finance or board urgency; secrecy; authority pressure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Executive verification protocol and delegated dual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high-value executive or decision-maker is specifically targeted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04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Business email compromise: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‘We changed banks. Pay invoice INV-2048 to the new account today; reply only to this email.’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New bank details, lookalike domain, altered reply-to or unusual timing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Independent call-back using stored contacts; dual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An attacker impersonates or takes over a trusted mailbox to change a business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05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Smishing: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‘Bank alert: your account is locked. Tap bank-verify.example.test now.’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Delivery, bank or government lure with shortened link and urgency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Open the official app or known website instead of the message link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SMS or messaging platforms deliver fraudulent links, codes or support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06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Vishing: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vish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‘I'm from the bank fraud team. Read me the six-digit code so I can cancel the transfer.’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Caller pressure, request for codes, remote access or immediate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End the call and dial a known official number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caller impersonates authority, support, a bank or a colleague to obtain action or secrets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07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QR phishing / quishing: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parking notice says ‘Scan to avoid a fine’, but the QR destination is pay-parking.example.test.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Unsolicited QR code near payment, login, parking or document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Preview the destination; use a known app or typed address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QR code hides the destination and moves the victim onto a mobile browser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08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Pretexting: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vish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caller claims to be a new auditor and asks for the staff list and VPN guide ‘for tomorrow's inspection’.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Detailed story but weak entitlement, unusual data request or exception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Verify identity, authority and need-to-know separately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fabricated role and story creates a reason to disclose data or bypass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09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Baiting: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public-wifi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USB labelled ‘2026 Salary Review’ is left beside the office printer.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Free software, found USB media or exclusive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Do not connect unknown media; use approved software 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An attractive download, prize or abandoned device tempts the victim to interact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10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Quid pro quo: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vish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stranger offers free IT support but asks you to install a remote-control app and share your login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Unexpected help offer that asks for a password, code or installation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Use the official support channel and never disclose authenticators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promised benefit or service is exchanged for credentials, access or information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11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Tech-support scam: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vish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browser pop-up says ‘Virus detected—call support now’ and the caller asks for remote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Unsolicited warning, remote-access request and pressure to keep the call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Disconnect, remove remote access safely and contact genuine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Fake support persuades the victim to install remote-control software or pay for a nonexistent problem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12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Tailgating: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tailgat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Someone carrying boxes asks you to hold the secure door because ‘my access card is in the car’.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Visitor avoids reception or relies on politeness and a carried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Challenge politely or escort the person to reception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An unauthorised person follows an authorised user through a controlled entrance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13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Shoulder surfing: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tailgat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stranger watches you enter a phone PIN on a crowded train, then follows where you keep the device.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Crowded space, exposed screen or sensitive conversation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Use privacy awareness, screen positioning and clean-desk habits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Information is observed directly from screens, keyboards, documents or conversations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14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Dumpster diving: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tailgat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Printed customer labels and an old USB drive are placed in ordinary rubbish.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Sensitive printouts, labels or storage media in normal waste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Secure disposal, shredding and verified media destruction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Discarded documents or devices reveal identities, systems or business information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15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Watering-hole deception: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public-wifi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familiar industry forum suddenly asks you to install a ‘document viewer’ before reading a post.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Unexpected login, download or browser warning on a familiar niche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Patch browsers, limit execution and verify unusual site behaviour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A site trusted by a target community is compromised or imitated to reach that group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SOCIAL ENGINEERING 16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MFA fatigue / push bombing: see it in everyday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vish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WHAT IT CAN LOOK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Your phone shows six login approvals, then ‘IT support’ calls and tells you to approve the next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SPOT THESE CLUES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Multiple unexpected prompts followed by a call claiming to be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DO THIS INSTEAD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Deny, report, change credentials and prefer number matching or passkeys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How it works: Repeated authentication prompts pressure a user to approve one to make them stop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https://www.police.gov.sg/-/media/SPF/Media-Room/Statistics/Annual-Scams-and-Cybercrime-Brief-2025/Ann…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Phishing email example: parcel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130552"/>
            <a:ext cx="5943600" cy="3858768"/>
          </a:xfrm>
          <a:prstGeom prst="roundRect">
            <a:avLst/>
          </a:prstGeom>
          <a:solidFill>
            <a:srgbClr val="FFFFFF"/>
          </a:solidFill>
          <a:ln>
            <a:solidFill>
              <a:srgbClr val="CB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130552"/>
            <a:ext cx="5943600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21992"/>
            <a:ext cx="34747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MAIL  •  INBOX  • 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679192"/>
            <a:ext cx="46451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243E"/>
                </a:solidFill>
                <a:latin typeface="Aptos"/>
              </a:rPr>
              <a:t>Parcel Updates &lt;notify@parcel-status.example.test&gt;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054096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Reply-to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008376"/>
            <a:ext cx="46451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3D3D"/>
                </a:solidFill>
                <a:latin typeface="Aptos"/>
              </a:rPr>
              <a:t>claims@parcel-help.example.test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01568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346704"/>
            <a:ext cx="464515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0243E"/>
                </a:solidFill>
                <a:latin typeface="Aptos"/>
              </a:rPr>
              <a:t>Final notice: S$1.20 delivery fee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" y="3822191"/>
            <a:ext cx="5376672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05072"/>
            <a:ext cx="5120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0243E"/>
                </a:solidFill>
                <a:latin typeface="Aptos"/>
              </a:rPr>
              <a:t>Hello,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5166360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0243E"/>
                </a:solidFill>
                <a:latin typeface="Aptos"/>
              </a:rPr>
              <a:t>We could not deliver your parcel. Pay S$1.20 within 30 minutes or it will be returned.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5230368"/>
            <a:ext cx="2331720" cy="484632"/>
          </a:xfrm>
          <a:prstGeom prst="round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ptos"/>
              </a:rPr>
              <a:t>PAY DELIVERY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5340096"/>
            <a:ext cx="2514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5F6B7A"/>
                </a:solidFill>
                <a:latin typeface="Aptos"/>
              </a:rPr>
              <a:t>Mock message — do not click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Unexpected small 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Sender and reply-to differ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Urgency creates pressure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Link is not the courier's known site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Open the courier's official app or type its known address. Do not use the email link.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Phishing email: genuine or suspicious?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130552"/>
            <a:ext cx="5943600" cy="3858768"/>
          </a:xfrm>
          <a:prstGeom prst="roundRect">
            <a:avLst/>
          </a:prstGeom>
          <a:solidFill>
            <a:srgbClr val="FFFFFF"/>
          </a:solidFill>
          <a:ln>
            <a:solidFill>
              <a:srgbClr val="CB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130552"/>
            <a:ext cx="5943600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21992"/>
            <a:ext cx="34747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MAIL  •  INBOX  • 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679192"/>
            <a:ext cx="46451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243E"/>
                </a:solidFill>
                <a:latin typeface="Aptos"/>
              </a:rPr>
              <a:t>HR Shared Services &lt;benefits@company.example.test&gt;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054096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Reply-to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008376"/>
            <a:ext cx="46451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3D3D"/>
                </a:solidFill>
                <a:latin typeface="Aptos"/>
              </a:rPr>
              <a:t>benefits-help@external-mail.example.test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01568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346704"/>
            <a:ext cx="464515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0243E"/>
                </a:solidFill>
                <a:latin typeface="Aptos"/>
              </a:rPr>
              <a:t>Urgent: benefits account expires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" y="3822191"/>
            <a:ext cx="5376672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05072"/>
            <a:ext cx="5120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0243E"/>
                </a:solidFill>
                <a:latin typeface="Aptos"/>
              </a:rPr>
              <a:t>Hello,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5166360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0243E"/>
                </a:solidFill>
                <a:latin typeface="Aptos"/>
              </a:rPr>
              <a:t>Sign in now to keep your medical benefits. You have 20 minutes before access is removed.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5230368"/>
            <a:ext cx="2331720" cy="484632"/>
          </a:xfrm>
          <a:prstGeom prst="round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ptos"/>
              </a:rPr>
              <a:t>KEEP MY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5340096"/>
            <a:ext cx="2514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5F6B7A"/>
                </a:solidFill>
                <a:latin typeface="Aptos"/>
              </a:rPr>
              <a:t>Mock message — do not click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Threat of losing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Unusual external reply-to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Unexpected sign-in link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No matching notice in the HR portal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Use the bookmarked HR portal or call HR on the directory number.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BEC email example: changed bank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130552"/>
            <a:ext cx="5943600" cy="3858768"/>
          </a:xfrm>
          <a:prstGeom prst="roundRect">
            <a:avLst/>
          </a:prstGeom>
          <a:solidFill>
            <a:srgbClr val="FFFFFF"/>
          </a:solidFill>
          <a:ln>
            <a:solidFill>
              <a:srgbClr val="CB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130552"/>
            <a:ext cx="5943600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21992"/>
            <a:ext cx="34747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MAIL  •  INBOX  • 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679192"/>
            <a:ext cx="46451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243E"/>
                </a:solidFill>
                <a:latin typeface="Aptos"/>
              </a:rPr>
              <a:t>Lee Supplies &lt;accounts@lee-supp1ies.example.test&gt;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054096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Reply-to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008376"/>
            <a:ext cx="46451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3D3D"/>
                </a:solidFill>
                <a:latin typeface="Aptos"/>
              </a:rPr>
              <a:t>payments@lee-supp1ies.example.test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01568"/>
            <a:ext cx="658368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B7A"/>
                </a:solidFill>
                <a:latin typeface="Aptos"/>
              </a:rPr>
              <a:t>Subject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346704"/>
            <a:ext cx="464515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0243E"/>
                </a:solidFill>
                <a:latin typeface="Aptos"/>
              </a:rPr>
              <a:t>RE: INV-2048 — new bank account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" y="3822191"/>
            <a:ext cx="5376672" cy="13716"/>
          </a:xfrm>
          <a:prstGeom prst="rect">
            <a:avLst/>
          </a:prstGeom>
          <a:solidFill>
            <a:srgbClr val="D7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05072"/>
            <a:ext cx="51206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0243E"/>
                </a:solidFill>
                <a:latin typeface="Aptos"/>
              </a:rPr>
              <a:t>Hello,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5166360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0243E"/>
                </a:solidFill>
                <a:latin typeface="Aptos"/>
              </a:rPr>
              <a:t>Our bank account changed today. Please pay S$48,700 to the attached account before 3 pm. Reply only to this email.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5230368"/>
            <a:ext cx="2331720" cy="484632"/>
          </a:xfrm>
          <a:prstGeom prst="round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ptos"/>
              </a:rPr>
              <a:t>OPEN NEW BANK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5340096"/>
            <a:ext cx="2514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5F6B7A"/>
                </a:solidFill>
                <a:latin typeface="Aptos"/>
              </a:rPr>
              <a:t>Mock message — do not click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Lookalike domain uses the digit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Bank details changed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Same-day payment pressure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Request bypasses normal verification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Stop payment and call the supplier using the number already stored in the vendor record.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Smishing example: account locked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SMS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56231" y="2084831"/>
            <a:ext cx="3977639" cy="4005072"/>
          </a:xfrm>
          <a:prstGeom prst="round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2386584"/>
            <a:ext cx="3575304" cy="3355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596896"/>
            <a:ext cx="3017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063240"/>
            <a:ext cx="2999232" cy="1490472"/>
          </a:xfrm>
          <a:prstGeom prst="roundRect">
            <a:avLst/>
          </a:prstGeom>
          <a:solidFill>
            <a:srgbClr val="EAF0F8"/>
          </a:solidFill>
          <a:ln>
            <a:solidFill>
              <a:srgbClr val="C8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/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0243E"/>
                </a:solidFill>
                <a:latin typeface="Aptos"/>
              </a:rPr>
              <a:t>BANK SECURITY: Your account is locked. Verify now at bank-verify.example.test or access will be suspended.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773168"/>
            <a:ext cx="299923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F6B7A"/>
                </a:solidFill>
                <a:latin typeface="Aptos"/>
              </a:rPr>
              <a:t>Unknown sender  •  10:42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Fear of account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Link asks for a bank login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Generic sender 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Message is unexpected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Open the official banking app independently and use its support number if needed.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Vishing example: the fake fraud-team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PHONE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67712"/>
            <a:ext cx="987552" cy="98755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267712"/>
            <a:ext cx="4206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INCOMING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78608"/>
            <a:ext cx="42062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2545"/>
                </a:solidFill>
                <a:latin typeface="Aptos Display"/>
              </a:rPr>
              <a:t>‘Bank Fraud Team’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017520"/>
            <a:ext cx="420624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43D3D"/>
                </a:solidFill>
                <a:latin typeface="Aptos"/>
              </a:rPr>
              <a:t>Caller ID can be spoofed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3575304"/>
            <a:ext cx="57150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CB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 bIns="201168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43E"/>
                </a:solidFill>
                <a:latin typeface="Aptos"/>
              </a:rPr>
              <a:t>Caller: ‘There is a S$2,900 transfer pending. Read me the six-digit code now so I can cancel it.’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5285232"/>
            <a:ext cx="57150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ptos"/>
              </a:rPr>
              <a:t>The bank will not need your one-time code to cancel a transfer.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Caller creates fear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Requests an authentication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Demands immediate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Caller ID can be spoofed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End the call. Dial the number on the back of the bank card or in the official app.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QR phishing example: scan to pay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QR POSTER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546811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B2545"/>
                </a:solidFill>
                <a:latin typeface="Aptos Display"/>
              </a:rPr>
              <a:t>PARKING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546811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43D3D"/>
                </a:solidFill>
                <a:latin typeface="Aptos"/>
              </a:rPr>
              <a:t>SCAN NOW TO AVOID A S$70 FINE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0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9504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54096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12464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41648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312724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95728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24912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9504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77056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41648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29184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95728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24912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9504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80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77056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0832" y="345643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95728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0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24912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9504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77056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41648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70832" y="3621024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95728" y="3785615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54096" y="3785615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12464" y="3785615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70832" y="3785615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24912" y="411480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83280" y="411480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41648" y="411480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95728" y="4443983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54096" y="4443983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12464" y="4443983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70832" y="4443983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95728" y="4608576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60320" y="4608576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24912" y="4608576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89504" y="4608576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95728" y="477316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60320" y="477316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24912" y="477316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89504" y="477316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83280" y="477316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041648" y="4773168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95728" y="493776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60320" y="493776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24912" y="493776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9504" y="4937760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395728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560320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24912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89504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54096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12464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70832" y="5102352"/>
            <a:ext cx="164592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95728" y="5367528"/>
            <a:ext cx="21396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5F6B7A"/>
                </a:solidFill>
                <a:latin typeface="Aptos"/>
              </a:rPr>
              <a:t>NON-SCANNABLE MOCK QR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5696712"/>
            <a:ext cx="4892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43D3D"/>
                </a:solidFill>
                <a:latin typeface="Aptos"/>
              </a:rPr>
              <a:t>Preview: pay-parking.example.test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Sticker may cover a genuine code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Destination is hidden until scanning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Fine creates urgency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Site is not the known parking operator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Use the official parking app or type the operator's known address.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MFA fatigue example: repeated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AUTHENTICATION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56231" y="2084831"/>
            <a:ext cx="3977639" cy="4005072"/>
          </a:xfrm>
          <a:prstGeom prst="round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2386584"/>
            <a:ext cx="3575304" cy="3355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596896"/>
            <a:ext cx="3017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SIGN-IN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044952"/>
            <a:ext cx="2999232" cy="402336"/>
          </a:xfrm>
          <a:prstGeom prst="roundRect">
            <a:avLst/>
          </a:prstGeom>
          <a:solidFill>
            <a:srgbClr val="EAF0F8"/>
          </a:solidFill>
          <a:ln>
            <a:solidFill>
              <a:srgbClr val="C8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243E"/>
                </a:solidFill>
                <a:latin typeface="Aptos"/>
              </a:rPr>
              <a:t>Approve sign-in?  Attempt 4 of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547872"/>
            <a:ext cx="2999232" cy="402336"/>
          </a:xfrm>
          <a:prstGeom prst="roundRect">
            <a:avLst/>
          </a:prstGeom>
          <a:solidFill>
            <a:srgbClr val="EAF0F8"/>
          </a:solidFill>
          <a:ln>
            <a:solidFill>
              <a:srgbClr val="C8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243E"/>
                </a:solidFill>
                <a:latin typeface="Aptos"/>
              </a:rPr>
              <a:t>Approve sign-in?  Attempt 5 of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4050791"/>
            <a:ext cx="2999232" cy="402336"/>
          </a:xfrm>
          <a:prstGeom prst="roundRect">
            <a:avLst/>
          </a:prstGeom>
          <a:solidFill>
            <a:srgbClr val="EAF0F8"/>
          </a:solidFill>
          <a:ln>
            <a:solidFill>
              <a:srgbClr val="C8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243E"/>
                </a:solidFill>
                <a:latin typeface="Aptos"/>
              </a:rPr>
              <a:t>Approve sign-in?  Attempt 6 of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45152"/>
            <a:ext cx="30175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C43D3D"/>
                </a:solidFill>
                <a:latin typeface="Aptos"/>
              </a:rPr>
              <a:t>Six login approval prompts arrive, followed by a call: ‘This is IT. Approve the next one to stop the alerts.’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You did not start a 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Prompts repeat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caller asks you to approve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Approval would authorise the attacker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Deny, report the prompts, change the password from a trusted device and review active sessions.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Physical social engineering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23317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SYNTHETIC CLASSROOM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132588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WORKPLACE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6492240" cy="4443984"/>
          </a:xfrm>
          <a:prstGeom prst="roundRect">
            <a:avLst/>
          </a:prstGeom>
          <a:solidFill>
            <a:srgbClr val="F4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5806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331720"/>
            <a:ext cx="82296" cy="13258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9576" y="2478024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2450591"/>
            <a:ext cx="491032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TAILGATING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807208"/>
            <a:ext cx="5330952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person carrying boxes asks you to hold a secure door: ‘My access card is in the car.’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31920"/>
            <a:ext cx="5806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3931920"/>
            <a:ext cx="82296" cy="13258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9576" y="407822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4050791"/>
            <a:ext cx="491032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PRETEXTING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407408"/>
            <a:ext cx="5330952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‘new auditor’ asks for the staff list and VPN guide before an unverified inspection.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96128"/>
            <a:ext cx="5669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ptos"/>
              </a:rPr>
              <a:t>A convincing story is not proof of identity or authority.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536192"/>
            <a:ext cx="409651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Aptos Display"/>
              </a:rPr>
              <a:t>WHAT SHOULD MAKE YOU PAUSE?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1938528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61504" y="1938528"/>
            <a:ext cx="82296" cy="64008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0" y="2084832"/>
            <a:ext cx="347472" cy="34747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057400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C43D3D"/>
                </a:solidFill>
                <a:latin typeface="Aptos Display"/>
              </a:rPr>
              <a:t>CLUE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414016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Politeness is used as pressure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2688336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61504" y="2688336"/>
            <a:ext cx="82296" cy="64008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80960" y="2834640"/>
            <a:ext cx="347472" cy="347472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2807208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F0A23B"/>
                </a:solidFill>
                <a:latin typeface="Aptos Display"/>
              </a:rPr>
              <a:t>CLUE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163824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No visible access or appointment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61504" y="3438144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1504" y="3438144"/>
            <a:ext cx="82296" cy="6400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80960" y="3584448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557015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CLUE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3913631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Role sounds plausible but is unverified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1504" y="4187952"/>
            <a:ext cx="4096512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4187952"/>
            <a:ext cx="82296" cy="6400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80960" y="43342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306824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0E7C86"/>
                </a:solidFill>
                <a:latin typeface="Aptos Display"/>
              </a:rPr>
              <a:t>CLUE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7536" y="4663440"/>
            <a:ext cx="3621024" cy="7315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Request exceeds need-to-know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61504" y="5102352"/>
            <a:ext cx="4096512" cy="1033271"/>
          </a:xfrm>
          <a:prstGeom prst="roundRect">
            <a:avLst/>
          </a:prstGeom>
          <a:solidFill>
            <a:srgbClr val="EAF5F6"/>
          </a:solidFill>
          <a:ln>
            <a:solidFill>
              <a:srgbClr val="B9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5276088"/>
            <a:ext cx="358444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B57"/>
                </a:solidFill>
                <a:latin typeface="Aptos"/>
              </a:rPr>
              <a:t>SAFER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5550408"/>
            <a:ext cx="35844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0243E"/>
                </a:solidFill>
                <a:latin typeface="Aptos"/>
              </a:rPr>
              <a:t>Escort the person to reception and verify identity, appointment, authority and need-to-know.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EMAIL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Phishing and BEC: inspect the whole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Display name, exact domain and reply-to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Expected relationship, timing and channel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Money, credentials, data or 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Links, attachments, language and headers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Independent channel and known contact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Do not use contact details supplied inside the suspicious message.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SAME PSYCHOLOGY • DIFFERENT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Scams move across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Smishing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SMS or messaging link designed to steal data or install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Voice call creates urgency or impersonates authority.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QR phishing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code hides the destination and moves the user to mobile.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Social account takeover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familiar identity asks for money, codes or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E-commerce fraud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Fake listing, payment page, refund or delivery notice.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Tech-support scam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Attacker persuades the user to install remote-control software.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NETWORK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Networks face passive and active attacks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Passive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Traffic analysis or eavesdropping seeks information without changing the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Man-in-the-middle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An attacker intercepts or alters communication between trusted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Spoofing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source identity, address or service is imitated to gain trust.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Many sources exhaust service capacity and reduce availability.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Rogue wireless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fake or unsafe access point captures traffic or credentials.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Lateral movement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Compromise spreads through excessive trust between systems.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DDoS is an availability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B87"/>
                </a:solidFill>
                <a:latin typeface="Aptos Display"/>
              </a:rPr>
              <a:t>WHAT HAPPENS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606040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Traffic or requests overwhelm capacity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Legitimate users cannot reach the 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032504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Attack may distract from another intrusion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45736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Cloud and upstream support may be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1A0A0"/>
                </a:solidFill>
                <a:latin typeface="Aptos Display"/>
              </a:rPr>
              <a:t>RESILIENCE</a:t>
            </a:r>
          </a:p>
        </p:txBody>
      </p:sp>
      <p:sp>
        <p:nvSpPr>
          <p:cNvPr id="17" name="Oval 16"/>
          <p:cNvSpPr/>
          <p:nvPr/>
        </p:nvSpPr>
        <p:spPr>
          <a:xfrm>
            <a:off x="6519672" y="2606040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Rate limits and filtering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3319272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Content delivery and traffic scrubbing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4032504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Capacity and failover planning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745736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Provider escalation runbook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7" name="TextBox 2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https://www.cisco.com/site/us/en/learn/topics/security/what-is-cybersecurity.html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MOBILE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Mobile devices concentrate identity and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Malicious apps, unsafe permissions, lost device, SIM swap, QR phishing and untrusted Wi-Fi.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Supported OS, automatic updates, screen lock, encryption, remote locate/wipe and safe app 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Judgement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Treat unexpected MFA prompts and recovery messages as potential account takeover.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CYBER WARFARE • ESPIONAGE •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Nation-state and critical-infrastructure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Patient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Long dwell time and low-noise collection can matter more than immediate disruption.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Trusted pathways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Suppliers, identities and management tools offer broad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Civil 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Essential services connect cyber resilience with public safety and national security.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Individual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Reporting anomalies and protecting credentials still breaks high-end attack chains.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PRIVACY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Security, privacy and lawful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B87"/>
                </a:solidFill>
                <a:latin typeface="Aptos Display"/>
              </a:rPr>
              <a:t>PROTECTION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606040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Encryption protects confidentiality in transit and at rest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Access controls limit who can use data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032504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Logging creates accountability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45736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Data minimisation reduces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1A0A0"/>
                </a:solidFill>
                <a:latin typeface="Aptos Display"/>
              </a:rPr>
              <a:t>GOVERNANCE</a:t>
            </a:r>
          </a:p>
        </p:txBody>
      </p:sp>
      <p:sp>
        <p:nvSpPr>
          <p:cNvPr id="17" name="Oval 16"/>
          <p:cNvSpPr/>
          <p:nvPr/>
        </p:nvSpPr>
        <p:spPr>
          <a:xfrm>
            <a:off x="6519672" y="2606040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Use must be authorised and proportionate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3319272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Retention and monitoring need policy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4032504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Escalate legal or ethical uncertainty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745736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Do not bypass controls for convenience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SingHealth data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Singapore, 2018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Compromised front-end workstation and privileged credentials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Endpoint compromise, credential misuse, delayed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Personal particulars of 1.5 million patients; outpatient medication records of 160,000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Unusual database queries, privileged access, suspicious workstation activity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Endpoint hardening, least privilege, privileged access monitoring, segmented systems, rehearsed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Identity and endpoint signals must be connected before an intruder reaches sensitive data.</a:t>
            </a:r>
          </a:p>
        </p:txBody>
      </p:sp>
      <p:sp>
        <p:nvSpPr>
          <p:cNvPr id="40" name="Case source citation 01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Ministry of Health Singapore  •  SingHealth's IT System Target of Cyberattack  •  moh.gov.sg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https://www.moh.gov.sg/newsroom/singhealth%27s-it-system-target-of-cyberattack/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SingHealth data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01</a:t>
            </a:r>
          </a:p>
        </p:txBody>
      </p:sp>
      <p:pic>
        <p:nvPicPr>
          <p:cNvPr id="6" name="Picture 5" descr="visual-tabletop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Unusual database queries, privileged access, suspicious workstation activity?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personal particulars of 1.5 million patients; outpatient medication records of 160,000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Endpoint hardening, least privilege, privileged access monitoring, segmented systems, rehearsed response?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1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Ministry of Health Singapore  •  SingHealth's IT System Target of Cyberattack  •  moh.gov.sg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https://www.moh.gov.sg/newsroom/singhealth%27s-it-system-target-of-cyberattack/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WannaCry and the NHS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Kingdom, 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Ransomware exploited unpatched Windows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Patch gaps, unsupported systems, uneven asset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Disruption across NHS organisations and cancelled care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Rapid lateral spread, inaccessible files, ransom notes, unavailable clinical systems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Asset inventory, timely patching, supported platforms, segmentation, tested offline recovery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 known vulnerability becomes an operational crisis when ownership and patching fail.</a:t>
            </a:r>
          </a:p>
        </p:txBody>
      </p:sp>
      <p:sp>
        <p:nvSpPr>
          <p:cNvPr id="40" name="Case source citation 02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UK National Audit Office  •  Investigation: WannaCry Cyber Attack and the NHS  •  nao.org.uk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https://www.nao.org.uk/reports/investigation-wannacry-cyber-attack-and-the-nhs/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WannaCry and the NHS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02</a:t>
            </a:r>
          </a:p>
        </p:txBody>
      </p:sp>
      <p:pic>
        <p:nvPicPr>
          <p:cNvPr id="6" name="Picture 5" descr="visual-malware-response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Rapid lateral spread, inaccessible files, ransom notes, unavailable clinical systems?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disruption across nhs organisations and cancelled care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Asset inventory, timely patching, supported platforms, segmentation, tested offline recovery?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2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UK National Audit Office  •  Investigation: WannaCry Cyber Attack and the NHS  •  nao.org.uk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https://www.nao.org.uk/reports/investigation-wannacry-cyber-attack-and-the-nhs/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Equifax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States, 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Exploitation of a known web application vulnerability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Patch and asset-management breakdowns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Sensitive personal information exposed at massive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Unusual web traffic and data access; vulnerable internet-facing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Complete asset inventory, vulnerability SLAs, compensating controls, verification after patching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 patch notice is not a control until the affected asset is found, fixed and verified.</a:t>
            </a:r>
          </a:p>
        </p:txBody>
      </p:sp>
      <p:sp>
        <p:nvSpPr>
          <p:cNvPr id="40" name="Case source citation 03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U.S. House Committee on Oversight  •  The Equifax Data Breach  •  oversight.house.gov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https://oversight.house.gov/report/the-equifax-data-breach/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Equifax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visual-supply-chain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Unusual web traffic and data access; vulnerable internet-facing service?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sensitive personal information exposed at massive scale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Complete asset inventory, vulnerability SLAs, compensating controls, verification after patching?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3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U.S. House Committee on Oversight  •  The Equifax Data Breach  •  oversight.house.gov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https://oversight.house.gov/report/the-equifax-data-breach/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SolarWinds supply-chain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Global, 2020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Malicious code inserted into trusted software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Implicit trust in supplier software and privileged management tooling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Covert access to public- and private-sector networks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Rare identity use, unusual cloud access, unexpected network paths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Supplier risk management, zero-trust checks, identity analytics, egress monitoring, rapid key rotation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Trusted software can carry risk; verify behaviour after deployment, not only the publisher.</a:t>
            </a:r>
          </a:p>
        </p:txBody>
      </p:sp>
      <p:sp>
        <p:nvSpPr>
          <p:cNvPr id="40" name="Case source citation 04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CISA  •  Active Exploitation of SolarWinds Software  •  cisa.gov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https://www.cisa.gov/news-events/alerts/2020/12/13/active-exploitation-solarwinds-software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SolarWinds supply-chain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visual-soc-monitoring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Rare identity use, unusual cloud access, unexpected network paths?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covert access to public- and private-sector networks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Supplier risk management, zero-trust checks, identity analytics, egress monitoring, rapid key rotation?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4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CISA  •  Active Exploitation of SolarWinds Software  •  cisa.gov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https://www.cisa.gov/news-events/alerts/2020/12/13/active-exploitation-solarwinds-software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Colonial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States, 2021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Compromised VPN password on an inactive account without MFA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Dormant identity, password reuse/exposure, missing MFA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Business systems disruption and precautionary pipeline shutdown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Unexpected remote access and activity from a dormant account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Disable dormant accounts, MFA, password monitoring, remote-access review, IT/OT separation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Identity hygiene is infrastructure resilience.</a:t>
            </a:r>
          </a:p>
        </p:txBody>
      </p:sp>
      <p:sp>
        <p:nvSpPr>
          <p:cNvPr id="40" name="Case source citation 05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CISA  •  IAM Case Study: Colonial Pipeline  •  cisa.gov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https://www.cisa.gov/sites/default/files/2023-12/IAM_EDUCATIONAL_AID_TALKING_POINTS_508C.pdf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Colonial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visual-bec-verification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Unexpected remote access and activity from a dormant account?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business systems disruption and precautionary pipeline shutdown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Disable dormant accounts, MFA, password monitoring, remote-access review, IT/OT separation?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5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CISA  •  IAM Case Study: Colonial Pipeline  •  cisa.gov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https://www.cisa.gov/sites/default/files/2023-12/IAM_EDUCATIONAL_AID_TALKING_POINTS_508C.pdf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Log4Shell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Global, 2021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Remote code execution through a widely embedded logging component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Hidden software dependency and incomplete inventory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Broad exploitation risk across internet-facing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Suspicious lookup strings, outbound callbacks, new processes and payloads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Software bill of materials, emergency patch process, virtual patching, threat hunting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You cannot protect a component you do not know you run.</a:t>
            </a:r>
          </a:p>
        </p:txBody>
      </p:sp>
      <p:sp>
        <p:nvSpPr>
          <p:cNvPr id="40" name="Case source citation 06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CISA  •  Mitigating Log4Shell and Log4j Vulnerabilities  •  cisa.gov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https://www.cisa.gov/news-events/cybersecurity-advisories/aa21-356a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Log4Shell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visual-backup-recovery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Suspicious lookup strings, outbound callbacks, new processes and payloads?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broad exploitation risk across internet-facing systems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Software bill of materials, emergency patch process, virtual patching, threat hunting?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6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CISA  •  Mitigating Log4Shell and Log4j Vulnerabilities  •  cisa.gov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https://www.cisa.gov/news-events/cybersecurity-advisories/aa21-356a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MOVEit mass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Global, 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Zero-day SQL injection in managed file-transfer 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Internet-facing data service and third-party concentration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Data theft across many organisations through one common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Unexpected database queries, web shells, unusual downloads and new accounts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Vendor advisories, rapid isolation, compromise assessment, third-party exposure mapping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Third-party software can multiply one vulnerability into sector-wide exposure.</a:t>
            </a:r>
          </a:p>
        </p:txBody>
      </p:sp>
      <p:sp>
        <p:nvSpPr>
          <p:cNvPr id="40" name="Case source citation 07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CISA  •  CL0P Exploits MOVEit Vulnerability  •  cisa.gov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https://www.cisa.gov/sites/default/files/2023-06/aa23-158a-stopransomware-cl0p-ransomware-gang-exploit…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MOVEit mass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visual-tabletop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Unexpected database queries, web shells, unusual downloads and new accounts?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data theft across many organisations through one common platform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Vendor advisories, rapid isolation, compromise assessment, third-party exposure mapping?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7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CISA  •  CL0P Exploits MOVEit Vulnerability  •  cisa.gov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https://www.cisa.gov/sites/default/files/2023-06/aa23-158a-stopransomware-cl0p-ransomware-gang-exploit…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MGM Resorts cyber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States, 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Identity compromise followed by system disruption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Help-desk and identity-recovery processes exposed to manipulation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Systems shut down, service disruption and personal data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Unusual identity recovery, privileged account changes and abrupt service outages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High-assurance help-desk verification, phishing-resistant MFA, privileged identity monitoring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Recovery workflows need controls as strong as login workflows.</a:t>
            </a:r>
          </a:p>
        </p:txBody>
      </p:sp>
      <p:sp>
        <p:nvSpPr>
          <p:cNvPr id="40" name="Case source citation 08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U.S. Securities and Exchange Commission  •  MGM Resorts International Form 8-K  •  sec.gov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https://www.sec.gov/Archives/edgar/data/789570/000119312523251667/d461062d8k.htm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MGM Resorts cyber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visual-malware-response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Unusual identity recovery, privileged account changes and abrupt service outages?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systems shut down, service disruption and personal data exposure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High-assurance help-desk verification, phishing-resistant MFA, privileged identity monitoring?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8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U.S. Securities and Exchange Commission  •  MGM Resorts International Form 8-K  •  sec.gov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https://www.sec.gov/Archives/edgar/data/789570/000119312523251667/d461062d8k.htm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Singapore commodity-trader BEC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Singapore,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Supplier impersonation using a subtly transposed email 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Payment change accepted without independent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USD 6.6 million transferred; funds recovered after rapid reporting and international cooperation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Changed bank details, lookalike domain, urgency and unusual payment instructions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Call-back verification using known contacts, dual approval, domain checks, rapid bank and police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 two-minute independent check can prevent a multi-million-dollar loss.</a:t>
            </a:r>
          </a:p>
        </p:txBody>
      </p:sp>
      <p:sp>
        <p:nvSpPr>
          <p:cNvPr id="40" name="Case source citation 09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Singapore Police Force  •  Recovery of Over USD 6.6 Million in BEC Case  •  police.gov.sg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https://www.police.gov.sg/media-hub/news/2026/05/20260505_international_cooperation_leads_to_the_recov…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Singapore commodity-trader BEC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visual-supply-chain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Changed bank details, lookalike domain, urgency and unusual payment instructions?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usd 6.6 million transferred; funds recovered after rapid reporting and international cooperation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Call-back verification using known contacts, dual approval, domain checks, rapid bank and police escalation?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09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Singapore Police Force  •  Recovery of Over USD 6.6 Million in BEC Case  •  police.gov.sg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https://www.police.gov.sg/media-hub/news/2026/05/20260505_international_cooperation_leads_to_the_recov…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Target payment-card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States, 2013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Stolen third-party vendor credentials enabled access into the retailer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Supplier access, weak separation and missed opportunities to act on security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Payment-card information and personal data associated with tens of millions of customers were exposed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Malware alerts, unusual internal movement and outbound data transfers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Supplier MFA, segmented vendor access, alert ownership, egress monitoring and tested incident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 low-privilege supplier pathway can become a high-impact route when trust boundaries are weak.</a:t>
            </a:r>
          </a:p>
        </p:txBody>
      </p:sp>
      <p:sp>
        <p:nvSpPr>
          <p:cNvPr id="40" name="Case source citation 10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U.S. Senate Committee on Commerce  •  Target's Missed Opportunities to Stop a Data Breach  •  commerce.senate.gov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https://www.commerce.senate.gov/press/dem/release/rockefeller-staff-report-details-targets-missed-oppo…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Target payment-card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visual-soc-monitoring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Malware alerts, unusual internal movement and outbound data transfers?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payment-card information and personal data associated with tens of millions of customers were exposed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Supplier MFA, segmented vendor access, alert ownership, egress monitoring and tested incident escalation?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10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U.S. Senate Committee on Commerce  •  Target's Missed Opportunities to Stop a Data Breach  •  commerce.senate.gov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https://www.commerce.senate.gov/press/dem/release/rockefeller-staff-report-details-targets-missed-oppo…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NotPetya disruption at Maersk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Global shipping, 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Destructive malware entered through compromised Ukrainian accounting software and spread globally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Trusted software pathway, flat connectivity and operational dependence on shared digital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Global applications and data were unavailable for days; port and shipping operations were disrupted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Rapid cross-site outages, unavailable systems and destructive behaviour rather than a recoverable ransom event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Supplier risk controls, segmentation, isolated recovery capability, offline identity services and business workarounds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An organisation can suffer severe collateral damage even when it is not the intended target.</a:t>
            </a:r>
          </a:p>
        </p:txBody>
      </p:sp>
      <p:sp>
        <p:nvSpPr>
          <p:cNvPr id="40" name="Case source citation 11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UK Department for Transport  •  Cyber Security for Ports and Port Systems  •  assets.publishing.service.gov.uk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https://assets.publishing.service.gov.uk/government/uploads/system/uploads/attachment_data/file/546160…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NotPetya disruption at Maersk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11</a:t>
            </a:r>
          </a:p>
        </p:txBody>
      </p:sp>
      <p:pic>
        <p:nvPicPr>
          <p:cNvPr id="6" name="Picture 5" descr="visual-bec-verification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Rapid cross-site outages, unavailable systems and destructive behaviour rather than a recoverable ransom event?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global applications and data were unavailable for days; port and shipping operations were disrupted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Supplier risk controls, segmentation, isolated recovery capability, offline identity services and business workarounds?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11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UK Department for Transport  •  Cyber Security for Ports and Port Systems  •  assets.publishing.service.gov.uk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https://assets.publishing.service.gov.uk/government/uploads/system/uploads/attachment_data/file/546160…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Marriott Starwood data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Global hospitality, disclosed 2018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Long-running unauthorised access in an acquired reservation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Acquisition due diligence, legacy-system monitoring and delayed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Large-scale exposure of guest records and sustained regulatory and customer consequences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Compromised accounts, database activity and anomalous access within a legacy environment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Pre-acquisition security assurance, rapid integration, identity reset, continuous monitoring and data minimisation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Cyber risk transfers with an acquisition unless inherited systems and identities are independently verified.</a:t>
            </a:r>
          </a:p>
        </p:txBody>
      </p:sp>
      <p:sp>
        <p:nvSpPr>
          <p:cNvPr id="40" name="Case source citation 12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UK Information Commissioner's Office  •  Marriott International Monetary Penalty Notice  •  ico.org.uk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https://ico.org.uk/media/action-weve-taken/mpns/2618524/marriott-international-inc-mpn-20201030.pdf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Marriott Starwood data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visual-backup-recovery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Compromised accounts, database activity and anomalous access within a legacy environment?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large-scale exposure of guest records and sustained regulatory and customer consequences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Pre-acquisition security assurance, rapid integration, identity reset, continuous monitoring and data minimisation?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12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UK Information Commissioner's Office  •  Marriott International Monetary Penalty Notice  •  ico.org.uk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https://ico.org.uk/media/action-weve-taken/mpns/2618524/marriott-international-inc-mpn-20201030.pdf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Capital One cloud data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States, 2019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A misconfigured web application firewall enabled access to cloud-hosted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Cloud configuration and permission design allowed excessive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Data from millions of credit applications was accessed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Unexpected cloud API activity, unusual data access and exploitation of an internet-facing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Least-privilege cloud roles, configuration assurance, logging, anomaly detection and rapid credential revocation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Cloud services inherit the organisation's configuration decisions; provider security does not remove customer responsibility.</a:t>
            </a:r>
          </a:p>
        </p:txBody>
      </p:sp>
      <p:sp>
        <p:nvSpPr>
          <p:cNvPr id="40" name="Case source citation 13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U.S. Department of Justice  •  Seattle Tech Worker Arrested for Data Theft  •  justice.gov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https://www.justice.gov/usao-wdwa/pr/seattle-tech-worker-arrested-data-theft-involving-large-financial…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Capital One cloud data breach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visual-tabletop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Unexpected cloud API activity, unusual data access and exploitation of an internet-facing control?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data from millions of credit applications was accessed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Least-privilege cloud roles, configuration assurance, logging, anomaly detection and rapid credential revocation?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13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U.S. Department of Justice  •  Seattle Tech Worker Arrested for Data Theft  •  justice.gov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https://www.justice.gov/usao-wdwa/pr/seattle-tech-worker-arrested-data-theft-involving-large-financial…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Norsk Hydro LockerGoga ransomware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Norway and global operations, 2019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Ransomware disrupted corporate and operational workstations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Enterprise connectivity allowed IT disruption to affect industrial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Plants shifted to manual workarounds while systems were rebuilt and restored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Unavailable workstations, encryption activity and loss of normal production-support systems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IT/OT segmentation, rehearsed manual operations, clean rebuild capability, transparent communications and tested backups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Operational resilience includes safe manual workarounds, not only technical restoration.</a:t>
            </a:r>
          </a:p>
        </p:txBody>
      </p:sp>
      <p:sp>
        <p:nvSpPr>
          <p:cNvPr id="40" name="Case source citation 14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UK National Cyber Security Centre  •  What Is OT Malware?  •  ncsc.gov.uk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https://www.ncsc.gov.uk/blog-post/what-is-ot-malware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Norsk Hydro LockerGoga ransomware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14</a:t>
            </a:r>
          </a:p>
        </p:txBody>
      </p:sp>
      <p:pic>
        <p:nvPicPr>
          <p:cNvPr id="6" name="Picture 5" descr="visual-malware-response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Unavailable workstations, encryption activity and loss of normal production-support systems?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plants shifted to manual workarounds while systems were rebuilt and restored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IT/OT segmentation, rehearsed manual operations, clean rebuild capability, transparent communications and tested backups?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14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UK National Cyber Security Centre  •  What Is OT Malware?  •  ncsc.gov.uk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https://www.ncsc.gov.uk/blog-post/what-is-ot-malware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Change Healthcare cyberattack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64592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United States healthcare,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084831"/>
            <a:ext cx="82296" cy="153619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313432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Threat actor access led the organisation to isolate connected transaction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84831"/>
            <a:ext cx="82296" cy="1536192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5" y="23134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Sector-wide dependence on a concentrated claims and payment intermediary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2139696"/>
            <a:ext cx="3429000" cy="1536192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2084831"/>
            <a:ext cx="342900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084831"/>
            <a:ext cx="82296" cy="1536192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66175" y="2313432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798063"/>
            <a:ext cx="2953512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5F6B7A"/>
                </a:solidFill>
                <a:latin typeface="Aptos"/>
              </a:rPr>
              <a:t>Electronic claims, payments and pharmacy transactions were disrupted across healthcare providers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3977639"/>
            <a:ext cx="82296" cy="141732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WHAT DEFENDERS COULD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Service interruption across connected customers and loss of access to transactional networks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25112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977639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CONTROLS THAT BREAK THE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Strong remote-access identity, supplier concentration analysis, alternate clearing routes, isolation plans and recovery communications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032503"/>
            <a:ext cx="3429000" cy="141732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776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28431" y="3977639"/>
            <a:ext cx="82296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3" y="4187952"/>
            <a:ext cx="2971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TRANSFERABLE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4690872"/>
            <a:ext cx="2953512" cy="5212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F6B7A"/>
                </a:solidFill>
                <a:latin typeface="Aptos"/>
              </a:rPr>
              <a:t>A cyber incident at one digital intermediary can become a cash-flow and patient-service crisis across an ecosystem.</a:t>
            </a:r>
          </a:p>
        </p:txBody>
      </p:sp>
      <p:sp>
        <p:nvSpPr>
          <p:cNvPr id="40" name="Case source citation 15">
            <a:hlinkClick r:id="rId2"/>
          </p:cNvPr>
          <p:cNvSpPr/>
          <p:nvPr/>
        </p:nvSpPr>
        <p:spPr>
          <a:xfrm>
            <a:off x="621792" y="5596128"/>
            <a:ext cx="1083564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76B87"/>
                </a:solidFill>
                <a:latin typeface="Aptos"/>
                <a:hlinkClick r:id="rId2"/>
              </a:rPr>
              <a:t>SOURCE: U.S. Securities and Exchange Commission  •  UnitedHealth Group Form 8-K, 21 February 2024  •  sec.gov  •  CLICK TO OPEN OFFICIAL 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3" name="TextBox 42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https://www.sec.gov/Archives/edgar/data/731766/000073176624000045/unh-20240221.htm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CASE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Decision room: Change Healthcare cyberattack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10896"/>
            <a:ext cx="502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15</a:t>
            </a:r>
          </a:p>
        </p:txBody>
      </p:sp>
      <p:pic>
        <p:nvPicPr>
          <p:cNvPr id="6" name="Picture 5" descr="visual-supply-chain-v17.png"/>
          <p:cNvPicPr>
            <a:picLocks noChangeAspect="1"/>
          </p:cNvPicPr>
          <p:nvPr/>
        </p:nvPicPr>
        <p:blipFill>
          <a:blip r:embed="rId2"/>
          <a:srcRect l="9546" r="9546"/>
          <a:stretch>
            <a:fillRect/>
          </a:stretch>
        </p:blipFill>
        <p:spPr>
          <a:xfrm>
            <a:off x="4709160" y="1481328"/>
            <a:ext cx="7479792" cy="5202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481328"/>
            <a:ext cx="5166360" cy="52029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65960" cy="347472"/>
          </a:xfrm>
          <a:prstGeom prst="roundRect">
            <a:avLst/>
          </a:prstGeom>
          <a:solidFill>
            <a:srgbClr val="163B62"/>
          </a:solidFill>
          <a:ln>
            <a:solidFill>
              <a:srgbClr val="16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TEAM DISCUSSION • 8 MIN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23744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evidence would you trust first: Service interruption across connected customers and loss of access to transactional networks?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27832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19856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immediate action limits electronic claims, payments and pharmacy transactions were disrupted across healthcare providers without destroying evidence?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59935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Which one control should be verified first from: Strong remote-access identity, supplier concentration analysis, alternate clearing routes, isolation plans and recovery communications?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020056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560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A0A0"/>
                </a:solidFill>
                <a:latin typeface="Aptos"/>
              </a:rPr>
              <a:t>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79"/>
            <a:ext cx="3611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ptos"/>
              </a:rPr>
              <a:t>Where could the same entry path exist in a personal account or small business today?</a:t>
            </a:r>
          </a:p>
        </p:txBody>
      </p:sp>
      <p:sp>
        <p:nvSpPr>
          <p:cNvPr id="21" name="Case source citation discussion 15">
            <a:hlinkClick r:id="rId3"/>
          </p:cNvPr>
          <p:cNvSpPr/>
          <p:nvPr/>
        </p:nvSpPr>
        <p:spPr>
          <a:xfrm>
            <a:off x="5321808" y="5760720"/>
            <a:ext cx="624535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176B87"/>
                </a:solidFill>
                <a:latin typeface="Aptos"/>
                <a:hlinkClick r:id="rId3"/>
              </a:rPr>
              <a:t>SOURCE: U.S. Securities and Exchange Commission  •  UnitedHealth Group Form 8-K, 21 February 2024  •  sec.gov  •  CLICK TO OPEN OFFICIAL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https://www.sec.gov/Archives/edgar/data/731766/000073176624000045/unh-20240221.htm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EDITABLE DATA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How the course case set was entered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837943"/>
            <a:ext cx="2971800" cy="33375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783080"/>
            <a:ext cx="82296" cy="33375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993392"/>
            <a:ext cx="25146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496312"/>
            <a:ext cx="2496312" cy="2441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Aptos"/>
              </a:rPr>
              <a:t>This chart describes only the 15 teaching cases in this course. It is a pattern-recognition aid, not an estimate of attack prevalence.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94960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Chart is native and editable in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Course case analysis; see case-study source register.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TRANSFER THE LESSON — NOT 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Case patterns that repeat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Known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public issue remained reachable or unverified after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Identity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Dormant, over-privileged or weakly verified accounts carried trust.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Supplier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One dependency multiplied exposure across many organisations.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Detection delay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Signals existed but were fragmented, noisy or unowned.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Payment, recovery or support workflows bypassed independent verification.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Recovery readiness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Operations depended on inventories, backups and practiced decisions.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Threat Triage with the Cybersecurity Simulator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25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Cybersecurity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small Singapore design agency receives five mixed security alerts. Decide what is benign, suspicious or urgent.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Completed triage table • Severity rationale • Screenshot of highest-risk decision • One escalation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https://alfredang.github.io/cybersecuritysimulator/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Detect Phishing and Business Email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LO1, 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Cybersecurity Simulator + Regex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Accounts staff must detect a lookalike supplier domain before approving a high-value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Annotated inbox • Tested regex • Detection test results • Independent verification script • Escalation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https://alfredang.github.io/regexgenerator/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Recognise Malware and Endpoint Warning 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LO1, 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Cybersecurity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Endpoint alerts reveal suspicious processes, persistence and outbound connections on an employee laptop.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Malware classification • Attack-chain map • Evidence vs inference notes • Containment decision • Escalation note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https://alfredang.github.io/cybersecuritysimulator/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8288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828800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1A0A0"/>
                </a:solidFill>
                <a:latin typeface="Aptos"/>
              </a:rPr>
              <a:t>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325880"/>
            <a:ext cx="6995160" cy="1554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0243E"/>
                </a:solidFill>
                <a:latin typeface="Aptos Display"/>
              </a:rPr>
              <a:t>Protect personal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154680"/>
            <a:ext cx="6309360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F6B7A"/>
                </a:solidFill>
                <a:latin typeface="Aptos"/>
              </a:rPr>
              <a:t>Build a practical baseline for identity, devices, data, online activity and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SEE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LAYERED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The personal protection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Unique long passphrases, password manager, MFA/passkeys, disable dormant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Automatic updates, supported software, standard-user access, encryption, screen 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Classification, least access, secure transfer, retention limits, tested backups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Networks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Secure Wi-Fi, segmentation, firewalling, VPN where appropriate, monitored remote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People &amp;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Verify unusual requests, dual approval, reporting channels, rehearsed escalation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Modern password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B87"/>
                </a:solidFill>
                <a:latin typeface="Aptos Display"/>
              </a:rPr>
              <a:t>USE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606040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Unique long passphrases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 reputable password manager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032504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MFA or passkeys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45736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Change credentials after suspected compromise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1A0A0"/>
                </a:solidFill>
                <a:latin typeface="Aptos Display"/>
              </a:rPr>
              <a:t>AVOID</a:t>
            </a:r>
          </a:p>
        </p:txBody>
      </p:sp>
      <p:sp>
        <p:nvSpPr>
          <p:cNvPr id="17" name="Oval 16"/>
          <p:cNvSpPr/>
          <p:nvPr/>
        </p:nvSpPr>
        <p:spPr>
          <a:xfrm>
            <a:off x="6519672" y="2606040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Reusing one password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3319272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Predictable substitutions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4032504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Routine forced changes without cause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745736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Sharing passwords in messages or documents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7" name="TextBox 2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https://www.microsoft.com/en-us/security/business/security-101/what-is-cybersecurity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IDENTITY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MFA is stronger when factors resist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Something you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Password or PIN; vulnerable to guessing, theft and reuse.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Something you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Authenticator, security key or registered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Something you 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Biometric used locally to unlock a trusted authenticator.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Phishing resistance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Passkeys and security keys bind authentication to the legitimate service.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CURRENT DEVICE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Secure a device through its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Supported hardware and trusted software 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Configure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Encryption, standard user, screen lock, least permissions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Maintain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Automatic updates, health checks and safe applications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Alerts, account activity and unusual behaviour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Retire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Backup, sign out, wipe and verify data removal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The Learner Guide contains platform-neutral verification steps.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3–2–1 +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Backups are a recovery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3 copies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Keep production data plus two backup copies.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2 media or 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Avoid one failure affecting every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1 offline or immutable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Make one copy resistant to ransomware and account takeover.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Test 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backup is only useful when the right data can be restored in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ONLINE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Safer browsing and online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Navigate deliberately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Use bookmarks or type a known address for important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Check the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HTTPS protects the connection; it does not prove the business is honest.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Limit payment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Use trusted payment channels, alerts and transaction limits.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Reduce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Share only what the transaction genuinely needs.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Pause on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New bank details, delivery fees or recovery prompts require verification.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Report fast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Contact the bank and relevant authorities quickly when fraud is suspected.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NETWORK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Home and public-network safeguards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Home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Change default admin credentials, update firmware, use strong Wi-Fi encryption and disable unused remote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Guest separation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Keep visitors and smart devices away from trusted work devices where supported.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Public Wi-Fi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Prefer mobile data for sensitive work; verify the network and avoid unexpected captive portals.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VPN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Protects traffic to the VPN endpoint; it does not make unsafe sites or compromised devices trustworthy.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When an account may be compromised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Do not approve unfamiliar prompts or continue risky activity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Use a clean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Access the service from a trusted device and known address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Secure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Change the password, revoke sessions and strengthen MFA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Recovery details, forwarding rules, connected apps and transactions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Provider, employer, bank or authority based on impact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Speed matters, but evidence and safe access matter too.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Protect Data with Hashing and Encryption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LO2, 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Cryptography Toolkit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clinic must distinguish confidentiality, integrity checking and password storage when protecting mock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Data classification • Hash comparison • Encrypted/decrypted sample • Key-handling checklist • Security explanation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https://alfredang.github.io/cryptography-toolkit/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8288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828800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1A0A0"/>
                </a:solidFill>
                <a:latin typeface="Aptos"/>
              </a:rPr>
              <a:t>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325880"/>
            <a:ext cx="6995160" cy="1554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0243E"/>
                </a:solidFill>
                <a:latin typeface="Aptos Display"/>
              </a:rPr>
              <a:t>Protect business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154680"/>
            <a:ext cx="6309360" cy="9601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F6B7A"/>
                </a:solidFill>
                <a:latin typeface="Aptos"/>
              </a:rPr>
              <a:t>Prioritise vulnerabilities, layer controls, monitor signals and escalate incidents.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SEE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846320"/>
            <a:ext cx="96012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AREAS PRONE TO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Vulnerabilities are more than software bugs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Unpatched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Known flaw remains exploitable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 or reused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One stolen secret unlocks several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Excess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Compromise reaches more data and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Misconfiguration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Security feature exists but is unsafe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Internet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Attack surface is reachable by anyone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8718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2998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299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9030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Unsafe input handling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9030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Application trusts hostile input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7356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1636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1636" y="409651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Third-party dependency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668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Supplier weakness becomes customer exposure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5994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0274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0274" y="409651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6306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Human process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6306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Urgency or authority bypasses verification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7" name="TextBox 4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01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Unpatched software: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Known flaw remains exploitable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Asset inventory + risk-based patch 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Inventory shows the affected version is absent and a rescan confirms closure.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02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Weak or reused credentials: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One stolen secret unlocks several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Password manager + MFA/passkeys + breach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MFA coverage, breach response and session review are tested for priority accounts.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03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Excess privilege: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Compromise reaches more data and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Least privilege + access 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Access review confirms only current roles retain approved permissions.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04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Misconfiguration: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Security feature exists but is unsafe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Secure baseline + continuous configuration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The secure baseline is measured continuously and exceptions have owners and expiry 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05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Internet exposure: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Attack surface is reachable by anyone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Minimise services + strong authentication +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External discovery confirms only required services are reachable and monitored.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06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Unsafe input handling: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oc-monitoring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Application trusts hostile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Validation + parameterised queries +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Security tests demonstrate hostile input cannot change the intended operation.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07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Third-party dependency: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supply-chai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59436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91072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0528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Supplier weakness becomes customer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Supplier inventory + contract controls +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The supplier inventory maps data, access, concentration, assurance and exit options.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VULNERABILITY 08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Human process gap: exposure, treatment and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-bec-verification-v17.png"/>
          <p:cNvPicPr>
            <a:picLocks noChangeAspect="1"/>
          </p:cNvPicPr>
          <p:nvPr/>
        </p:nvPicPr>
        <p:blipFill>
          <a:blip r:embed="rId2"/>
          <a:srcRect l="16577" r="16577"/>
          <a:stretch>
            <a:fillRect/>
          </a:stretch>
        </p:blipFill>
        <p:spPr>
          <a:xfrm>
            <a:off x="6172200" y="1600200"/>
            <a:ext cx="532180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600200"/>
            <a:ext cx="5321808" cy="4480560"/>
          </a:xfrm>
          <a:prstGeom prst="rect">
            <a:avLst/>
          </a:prstGeom>
          <a:noFill/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82296" cy="124358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746504"/>
            <a:ext cx="347472" cy="34747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719072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176B87"/>
                </a:solidFill>
                <a:latin typeface="Aptos Display"/>
              </a:rPr>
              <a:t>WHY IT IS EXPLOITABLE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Urgency or authority bypasses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08376"/>
            <a:ext cx="82296" cy="1243584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" y="3154680"/>
            <a:ext cx="347472" cy="34747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127248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1A0A0"/>
                </a:solidFill>
                <a:latin typeface="Aptos Display"/>
              </a:rPr>
              <a:t>RISK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483864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Independent verification + dual approval + rehearsal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16552"/>
            <a:ext cx="5303520" cy="1243584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16552"/>
            <a:ext cx="82296" cy="12435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" y="4562856"/>
            <a:ext cx="347472" cy="34747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535424"/>
            <a:ext cx="44074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2E8B57"/>
                </a:solidFill>
                <a:latin typeface="Aptos Display"/>
              </a:rPr>
              <a:t>VERIFY THE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4828031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243E"/>
                </a:solidFill>
                <a:latin typeface="Aptos"/>
              </a:rPr>
              <a:t>A rehearsal proves unusual payments, recovery and access changes trigger independent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06440"/>
            <a:ext cx="5303520" cy="384048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0E7C86"/>
                </a:solidFill>
                <a:latin typeface="Aptos"/>
              </a:rPr>
              <a:t>A vulnerability is not closed until the fix is verified on the correct asset and regressions are monitored.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DO NOT CONFUSE THE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Vulnerability, exploit and threat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Vulnerability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 weakness, insecure feature or user/process 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Exploit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Code or technique that uses the weakness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Threat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Actor or event with capability and intent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Conditions that make exploitation reachable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Likelihood and business consequence after controls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1" name="TextBox 40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FROM WEAKNESS TO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Common vulnerable areas and treatments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Unpatched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Asset inventory + risk-based patch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Weak or reused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Password manager + MFA/passkeys + breach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Excess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Least privilege + access 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Misconfiguration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Secure baseline + continuous configuration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Internet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Minimise services + strong authentication + 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8718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2998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299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9030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Unsafe input handling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9030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Validation + parameterised queries + testing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7356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1636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1636" y="409651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Third-party dependency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668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Supplier inventory + contract controls + monitoring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5994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0274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0274" y="409651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6306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Human process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6306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F6B7A"/>
                </a:solidFill>
                <a:latin typeface="Aptos"/>
              </a:rPr>
              <a:t>Independent verification + dual approval + rehearsal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EDITABLE DATA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Prioritise by business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837943"/>
            <a:ext cx="2971800" cy="33375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783080"/>
            <a:ext cx="82296" cy="33375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993392"/>
            <a:ext cx="25146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496312"/>
            <a:ext cx="2496312" cy="2441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F6B7A"/>
                </a:solidFill>
                <a:latin typeface="Aptos"/>
              </a:rPr>
              <a:t>The same technical severity can produce different business priorities. Reachability, data sensitivity, exploit activity and control strength change the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94960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F6B7A"/>
                </a:solidFill>
                <a:latin typeface="Aptos"/>
              </a:rPr>
              <a:t>Chart is native and editable in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Synthetic Lab 04 risk register.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CONTINUOUS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A complete vulnerability-management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Inventory assets, services, software and owners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Validate exposure, exploitability and business impact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Patch, isolate, configure, compensate, accept or retire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Confirm the fix and detect regressions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Improve ownership, standards and response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Closing a ticket is not the same as closing the exposure.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42" name="TextBox 41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https://www.ncsc.gov.uk/collection/vulnerability-management/understanding-vulnerabilities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OWASP-ALIGNED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Web application risk in plain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Hostile input changes a command or query. Use parameterised operations and strict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Broken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user can reach data or actions beyond their role. Enforce checks on the server.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Authentication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Sessions, passwords or recovery are weak. Use secure identity design and monitoring.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Security misconfiguration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Defaults, debug features or permissions expose capability. Use hardened baselines.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27" name="TextBox 26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https://owasp.org/www-community/attacks/SQL_Injection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DETECTION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IDS, IPS and endpoint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B87"/>
                </a:solidFill>
                <a:latin typeface="Aptos Display"/>
              </a:rPr>
              <a:t>DETECT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606040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IDS observes and alerts on network patterns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Endpoint detection correlates process, identity and file behaviour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032504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Logs need owners, context and retention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45736"/>
            <a:ext cx="301752" cy="301752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Honeypots can reveal unexpected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27632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7548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1A0A0"/>
                </a:solidFill>
                <a:latin typeface="Aptos Display"/>
              </a:rPr>
              <a:t>PREVENT / CONTAIN</a:t>
            </a:r>
          </a:p>
        </p:txBody>
      </p:sp>
      <p:sp>
        <p:nvSpPr>
          <p:cNvPr id="17" name="Oval 16"/>
          <p:cNvSpPr/>
          <p:nvPr/>
        </p:nvSpPr>
        <p:spPr>
          <a:xfrm>
            <a:off x="6519672" y="2606040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42032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IPS can block matched traffic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3319272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55263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Application control limits execution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4032504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Segmentation limits movement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745736"/>
            <a:ext cx="301752" cy="301752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81727"/>
            <a:ext cx="416052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43E"/>
                </a:solidFill>
                <a:latin typeface="Aptos"/>
              </a:rPr>
              <a:t>Automated action needs safe thresholds and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AUTHORISED TESTING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Penetration testing needs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Written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Named owner, target, dates and permitted techniques.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Rules of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Safety limits, data handling, stop conditions and contacts.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Evidence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Minimum necessary data, redaction and secure retention.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Remediation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Business impact, owner, due date, verification and retest.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CYBERSECURITY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Governance turns controls into routine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Every asset, risk, alert and action has an accountable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Clear requirements for access, data, suppliers, change, backup and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Patch time, MFA coverage, restore success, alert response and overdue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Assurance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Review, test and independently verify critical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Role-specific rehearsal, not one-time awareness.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Incidents and near misses change design and behaviour.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Business continuity and cyber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Prioritise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Critical services, dependencies and recovery objectives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Offline contacts, clean systems, backups and alternatives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Coordinate cyber, operations, legal and communications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Restore by business priority and verify integrity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Improve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After-action review, owners and tracked actions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Recovery is a business decision supported by technology.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INCIDENT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Escalate with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657246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242316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03120"/>
            <a:ext cx="384048" cy="384048"/>
          </a:xfrm>
          <a:prstGeom prst="ellipse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What is happening now?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724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7558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82296" cy="24231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9582" y="2103120"/>
            <a:ext cx="384048" cy="384048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646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7870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What facts and indicators support it?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2203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5036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9316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9316" y="1874519"/>
            <a:ext cx="82296" cy="2423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87060" y="210312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9124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348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Which people, data, services or money are at risk?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39681" y="2971800"/>
            <a:ext cx="164592" cy="0"/>
          </a:xfrm>
          <a:prstGeom prst="line">
            <a:avLst/>
          </a:prstGeom>
          <a:ln w="25400">
            <a:solidFill>
              <a:srgbClr val="A8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22515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6795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6795" y="1874519"/>
            <a:ext cx="82296" cy="242316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4539" y="2103120"/>
            <a:ext cx="384048" cy="384048"/>
          </a:xfrm>
          <a:prstGeom prst="ellipse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6603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827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What has been contained or preserved?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9993" y="1929384"/>
            <a:ext cx="2062886" cy="242316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4273" y="1874519"/>
            <a:ext cx="206288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4273" y="1874519"/>
            <a:ext cx="82296" cy="242316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42017" y="2103120"/>
            <a:ext cx="384048" cy="384048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081" y="2084831"/>
            <a:ext cx="110276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0305" y="2587752"/>
            <a:ext cx="1587398" cy="1527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F6B7A"/>
                </a:solidFill>
                <a:latin typeface="Aptos"/>
              </a:rPr>
              <a:t>What authority, resource or communication is needed?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4892040"/>
            <a:ext cx="9601200" cy="685800"/>
          </a:xfrm>
          <a:prstGeom prst="roundRect">
            <a:avLst/>
          </a:prstGeom>
          <a:solidFill>
            <a:srgbClr val="EAF5F6"/>
          </a:solidFill>
          <a:ln>
            <a:solidFill>
              <a:srgbClr val="C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ptos"/>
              </a:rPr>
              <a:t>State uncertainty explicitly; never present inference as confirmed fact.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INTERPRET THREATS REQUIRING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When to escalate immediately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Safety or essential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Potential harm to people or critical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Sensitive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Possible loss of personal, health, financial or confidential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Administrator, finance, executive or security-control account involved.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Active spread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Multiple systems, lateral movement or command-and-control signs.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Money 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Payment change, unauthorised transfer or extortion demand.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4151376"/>
            <a:ext cx="3502152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4096512"/>
            <a:ext cx="350215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0682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Uncertainty with high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3026664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Evidence is incomplete but delay could materially worsen outcomes.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Prioritise Vulnerabilities by Business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Ethical Hacking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An SME has limited maintenance time and must decide which exposures to address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Ranked risk register • Top-three rationale • Treatment decisions • Owners and due dates • Verification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https://alfredang.github.io/ethnicalhacking/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Authorised Web-Risk Review in FauxBank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40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LO1, 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FauxBank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bank training application needs a safe, evidence-based review of authentication and input-handling risks.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Signed scope check • Completed test plan • Redacted screenshots • Risk statements • Responsible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https://pentest-fauxbank.vercel.app/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Map Network Exposure and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LO1, 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IP Calculator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retail office needs separate zones for staff, guests, point-of-sale devices and management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Subnet plan • Asset-to-zone mapping • Allowed-flow matrix • Exposure decisions • Residual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https://alfredang.github.io/ipcalculator/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Triage Suspicious Network Traffic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LO1, 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PCAP Analyzer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workstation generates unusual DNS and outbound traffic after a user opens an attachment.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Traffic findings • Five-event timeline • Earliest reliable signal • Containment decision • Handover note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https://alfredang.github.io/pcapanalyzer/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Design and Test a Detection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30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Regex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security team needs a transparent rule for repeated failed logins and suspicious usernames.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Tested regex • Confusion matrix • Threshold decision • Rule documentation • Escalation criteria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https://alfredang.github.io/regexgenerator/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PRACTICE LAB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Integrated Incident Response and Escalation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527048"/>
            <a:ext cx="1234440" cy="347472"/>
          </a:xfrm>
          <a:prstGeom prst="roundRect">
            <a:avLst/>
          </a:prstGeom>
          <a:solidFill>
            <a:srgbClr val="EAF0F8"/>
          </a:solidFill>
          <a:ln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</a:rPr>
              <a:t>45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527048"/>
            <a:ext cx="2971800" cy="347472"/>
          </a:xfrm>
          <a:prstGeom prst="roundRect">
            <a:avLst/>
          </a:prstGeom>
          <a:solidFill>
            <a:srgbClr val="EAF5F6"/>
          </a:solidFill>
          <a:ln>
            <a:solidFill>
              <a:srgbClr val="EA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LO1–LO3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27048"/>
            <a:ext cx="2971800" cy="34747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76B87"/>
                </a:solidFill>
                <a:latin typeface="Aptos"/>
                <a:hlinkClick r:id="rId2"/>
              </a:rPr>
              <a:t>Integrated toolkit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103120"/>
            <a:ext cx="82296" cy="1874519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F6B7A"/>
                </a:solidFill>
                <a:latin typeface="Aptos"/>
              </a:rPr>
              <a:t>A supplier-payment email, endpoint alert and suspicious network connection may form one business-impacting incident.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21808" cy="1874519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218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82296" cy="187451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13432"/>
            <a:ext cx="486460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ACCEPTED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16352"/>
            <a:ext cx="4846320" cy="9784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F6B7A"/>
                </a:solidFill>
                <a:latin typeface="Aptos"/>
              </a:rPr>
              <a:t>Correlated timeline • CIA and business-impact assessment • Decision log • Escalation record • Three-minute briefing • After-action improvement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4297680"/>
            <a:ext cx="82296" cy="1143000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risk and how certain are you?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4297680"/>
            <a:ext cx="82296" cy="1143000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SAFE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What is the least harmful next action?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352544"/>
            <a:ext cx="3474720" cy="1143000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4297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297680"/>
            <a:ext cx="82296" cy="1143000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507992"/>
            <a:ext cx="30175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010912"/>
            <a:ext cx="29992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  <a:latin typeface="Aptos"/>
              </a:rPr>
              <a:t>Who needs what evidence, by when?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881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Aptos"/>
              </a:rPr>
              <a:t>Detailed procedures, mock data and verification criteria are in the Learner Guide and the lab folder.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  <p:sp>
        <p:nvSpPr>
          <p:cNvPr id="36" name="TextBox 35">
            <a:hlinkClick r:id="rId2"/>
          </p:cNvPr>
          <p:cNvSpPr txBox="1"/>
          <p:nvPr/>
        </p:nvSpPr>
        <p:spPr>
          <a:xfrm>
            <a:off x="4754880" y="6693408"/>
            <a:ext cx="690372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90" b="0">
                <a:solidFill>
                  <a:srgbClr val="FFFFFF"/>
                </a:solidFill>
                <a:latin typeface="Aptos"/>
              </a:rPr>
              <a:t>Source: https://alfredang.github.io/cybersecuritysimulator/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TRANSFER TO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Your 30-day cybersecurity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Within 24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Enable MFA on priority accounts; verify reporting contacts; test one backup restore.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Within 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Remove dormant access; update exposed systems; document payment-change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Within 30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Run a tabletop incident; review supplier exposure; close the top three risks with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RECOGNISE • REDUCE • ESCALATE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See the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Assets, threats, vulnerabilities and business processes combine to create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Layer safeguards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Identity, devices, data, networks, people and recovery support one another.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Verify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 configured control is not proven until it is tested and monitored.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468172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Escalate 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Structured evidence and independent verification protect outcomes.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AUTHORITATIVE AND APPROVED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Source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138988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IBM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Cybersecurity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13898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What is cybersecurity?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138988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Microsoft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What is cybersecurity?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2841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27355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273552"/>
            <a:ext cx="82296" cy="138988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8386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Kaspersky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8678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Cybersecurity definition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332841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327355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2544" y="3273552"/>
            <a:ext cx="82296" cy="13898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348386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Fortinet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398678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Cybersecurity glossary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32841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8" y="327355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3273552"/>
            <a:ext cx="82296" cy="138988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48386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Check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98678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What is cybersecurity?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7433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91947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919472"/>
            <a:ext cx="82296" cy="138988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512978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CSA Singapore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63270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Cybersecurity guidance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8264" y="497433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52544" y="491947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52544" y="4919472"/>
            <a:ext cx="82296" cy="138988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6" y="512978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NCSC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563270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Understanding vulnerabilities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56448" y="4974336"/>
            <a:ext cx="3502152" cy="138988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10728" y="4919472"/>
            <a:ext cx="350215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10728" y="4919472"/>
            <a:ext cx="82296" cy="138988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512978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OWASP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632704"/>
            <a:ext cx="3026664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B7A"/>
                </a:solidFill>
                <a:latin typeface="Aptos"/>
              </a:rPr>
              <a:t>Vulnerabilities and SQL injection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Case-study source register — 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SingHealth data breach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Ministry of Health Singapore • SingHealth's IT System Target of Cyberattack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WannaCry and the NHS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UK National Audit Office • Investigation: WannaCry Cyber Attack and the NHS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Equifax breach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U.S. House Committee on Oversight • The Equifax Data Breach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SolarWinds supply-chain compromise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CISA • Active Exploitation of SolarWinds Software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Colonial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CISA • IAM Case Study: Colonial 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8718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2998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299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9030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Log4Shell exploitation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9030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CISA • Mitigating Log4Shell and Log4j Vulnerabilities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7356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1636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1636" y="409651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MOVEit mass exploitation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668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CISA • CL0P Exploits MOVEit Vulnerability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5994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50274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0274" y="409651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6306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MGM Resorts cyber incident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6306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U.S. Securities and Exchange Commission • MGM Resorts International Form 8-K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REAL-WORLD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Case-study source register — 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Singapore commodity-trader BEC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Singapore Police Force • Recovery of Over USD 6.6 Million in BEC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8718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2998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2998" y="1627632"/>
            <a:ext cx="82296" cy="221284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030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Target payment-card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030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U.S. Senate Committee on Commerce • Target's Missed Opportunities to Stop a Data Breach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1636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1627632"/>
            <a:ext cx="82296" cy="221284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8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NotPetya disruption at Maersk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7668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UK Department for Transport • Cyber Security for Ports and Port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5994" y="168249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0274" y="162763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627632"/>
            <a:ext cx="82296" cy="2212848"/>
          </a:xfrm>
          <a:prstGeom prst="rect">
            <a:avLst/>
          </a:prstGeom>
          <a:solidFill>
            <a:srgbClr val="F0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6306" y="183794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Marriott Starwood data breach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6306" y="234086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UK Information Commissioner's Office • Marriott International Monetary Penalty Notice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096512"/>
            <a:ext cx="82296" cy="22128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Capital One cloud data breach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U.S. Department of Justice • Seattle Tech Worker Arrested for Data Theft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8718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2998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2998" y="4096512"/>
            <a:ext cx="82296" cy="2212848"/>
          </a:xfrm>
          <a:prstGeom prst="rect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9030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Norsk Hydro LockerGoga ransomware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9030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UK National Cyber Security Centre • What Is OT Malware?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7356" y="4151376"/>
            <a:ext cx="2562606" cy="221284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31636" y="4096512"/>
            <a:ext cx="2562606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1636" y="4096512"/>
            <a:ext cx="82296" cy="221284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7668" y="4306824"/>
            <a:ext cx="2105406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Change Healthcare cyberattack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7668" y="4809744"/>
            <a:ext cx="2087118" cy="13167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5F6B7A"/>
                </a:solidFill>
                <a:latin typeface="Aptos"/>
              </a:rPr>
              <a:t>U.S. Securities and Exchange Commission • UnitedHealth Group Form 8-K, 21 February 2024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Aptos"/>
              </a:rPr>
              <a:t>C506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3564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0243E"/>
                </a:solidFill>
                <a:latin typeface="Aptos Display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914400" cy="50292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82296" cy="4681728"/>
          </a:xfrm>
          <a:prstGeom prst="rect">
            <a:avLst/>
          </a:prstGeom>
          <a:solidFill>
            <a:srgbClr val="21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Recognise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Pause, inspect context and connect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27632"/>
            <a:ext cx="82296" cy="4681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Apply the smallest effective control, then verify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682496"/>
            <a:ext cx="3502152" cy="4681728"/>
          </a:xfrm>
          <a:prstGeom prst="round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27632"/>
            <a:ext cx="3502152" cy="4681728"/>
          </a:xfrm>
          <a:prstGeom prst="roundRect">
            <a:avLst/>
          </a:prstGeom>
          <a:solidFill>
            <a:srgbClr val="FFFFFF"/>
          </a:solidFill>
          <a:ln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627632"/>
            <a:ext cx="82296" cy="4681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37944"/>
            <a:ext cx="30449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0243E"/>
                </a:solidFill>
                <a:latin typeface="Aptos Display"/>
              </a:rPr>
              <a:t>Escalate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40864"/>
            <a:ext cx="3026664" cy="3785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B7A"/>
                </a:solidFill>
                <a:latin typeface="Aptos"/>
              </a:rPr>
              <a:t>Share facts, impact, action and the decision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84264"/>
            <a:ext cx="12191695" cy="1737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93408"/>
            <a:ext cx="2926080" cy="118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Aptos"/>
              </a:rPr>
              <a:t>C506  |  v1.0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Awareness Course for Personal and Businesses</dc:title>
  <dc:subject>TGS-2026064533</dc:subject>
  <dc:creator>Tertiary Infotech Academy Pte Ltd</dc:creator>
  <cp:keywords/>
  <dc:description>Generated from build/course_data.py; concept-led slides; procedures in LG/lab packs.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